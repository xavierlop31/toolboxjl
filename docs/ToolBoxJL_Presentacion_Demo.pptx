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97280" cy="91440"/>
          </a:xfrm>
          <a:prstGeom prst="rect">
            <a:avLst/>
          </a:prstGeom>
          <a:solidFill>
            <a:srgbClr val="E7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TOOLBOX JL</a:t>
            </a:r>
          </a:p>
          <a:p>
            <a:pPr>
              <a:defRPr sz="2200">
                <a:solidFill>
                  <a:srgbClr val="C8DCFF"/>
                </a:solidFill>
              </a:defRPr>
            </a:pPr>
            <a:r>
              <a:t>Plataforma Inteligente de Alquiler y Venta de Herramientas Eléctricas con Agentes de IA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Demostración en Vivo End-to-End · ~10 Minutos · Evaluación de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2468880" cy="548640"/>
          </a:xfrm>
          <a:prstGeom prst="roundRect">
            <a:avLst/>
          </a:prstGeom>
          <a:solidFill>
            <a:srgbClr val="141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⚡ Clean Architecture + DDD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4754880"/>
            <a:ext cx="2468880" cy="548640"/>
          </a:xfrm>
          <a:prstGeom prst="roundRect">
            <a:avLst/>
          </a:prstGeom>
          <a:solidFill>
            <a:srgbClr val="141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🤖 3 Agentes de IA Autónomos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4754880"/>
            <a:ext cx="2468880" cy="548640"/>
          </a:xfrm>
          <a:prstGeom prst="roundRect">
            <a:avLst/>
          </a:prstGeom>
          <a:solidFill>
            <a:srgbClr val="141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📱 4 Microfrontends (Native Fed)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4754880"/>
            <a:ext cx="2468880" cy="548640"/>
          </a:xfrm>
          <a:prstGeom prst="roundRect">
            <a:avLst/>
          </a:prstGeom>
          <a:solidFill>
            <a:srgbClr val="1E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🧪 180 Tests en Verde (100%)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70012"/>
                </a:solidFill>
              </a:defRPr>
            </a:pPr>
            <a:r>
              <a:t>MOMENTO 1: QUÉ PROBLEMA RESUELVE (0:00 - 2:00)</a:t>
            </a:r>
          </a:p>
          <a:p>
            <a:pPr>
              <a:defRPr sz="2400" b="1">
                <a:solidFill>
                  <a:srgbClr val="0B0E3D"/>
                </a:solidFill>
              </a:defRPr>
            </a:pPr>
            <a:r>
              <a:t>1. El Problema en Obra y la Solución ToolBox JL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400" b="1">
                <a:solidFill>
                  <a:srgbClr val="E70012"/>
                </a:solidFill>
              </a:defRPr>
            </a:pPr>
            <a:r>
              <a:t>❌ 1. Pérdidas por Trazabilidad</a:t>
            </a:r>
          </a:p>
          <a:p>
            <a:pPr>
              <a:defRPr sz="1100">
                <a:solidFill>
                  <a:srgbClr val="0B0E3D"/>
                </a:solidFill>
              </a:defRPr>
            </a:pPr>
            <a:r>
              <a:t>En las obras no se sabe qué unidad física específica tiene cada cliente, causando pérdidas millonarias y disputas por daños.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400" b="1">
                <a:solidFill>
                  <a:srgbClr val="1E9E5A"/>
                </a:solidFill>
              </a:defRPr>
            </a:pPr>
            <a:r>
              <a:t>✅ Trazabilidad Serializada QR</a:t>
            </a:r>
          </a:p>
          <a:p>
            <a:pPr>
              <a:defRPr sz="1100">
                <a:solidFill>
                  <a:srgbClr val="0B0E3D"/>
                </a:solidFill>
              </a:defRPr>
            </a:pPr>
            <a:r>
              <a:t>Cada unidad física cuenta con un código QR único que vincula número de serie, historial de mantenimiento y cliente.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400" b="1">
                <a:solidFill>
                  <a:srgbClr val="E70012"/>
                </a:solidFill>
              </a:defRPr>
            </a:pPr>
            <a:r>
              <a:t>❌ 2. Fricción en Cotizaciones</a:t>
            </a:r>
          </a:p>
          <a:p>
            <a:pPr>
              <a:defRPr sz="1100">
                <a:solidFill>
                  <a:srgbClr val="0B0E3D"/>
                </a:solidFill>
              </a:defRPr>
            </a:pPr>
            <a:r>
              <a:t>Procesos manuales lentos para asesorar técnicamente a contratistas que necesitan herramientas según potencia y especificaciones.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400" b="1">
                <a:solidFill>
                  <a:srgbClr val="1E9E5A"/>
                </a:solidFill>
              </a:defRPr>
            </a:pPr>
            <a:r>
              <a:t>✅ Conserje de Voz AI en Vivo</a:t>
            </a:r>
          </a:p>
          <a:p>
            <a:pPr>
              <a:defRPr sz="1100">
                <a:solidFill>
                  <a:srgbClr val="0B0E3D"/>
                </a:solidFill>
              </a:defRPr>
            </a:pPr>
            <a:r>
              <a:t>Agente de voz WebRTC integrado en el portal que asesora con grounding técnico en tiempo real y cotiza sin alucinar.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400" b="1">
                <a:solidFill>
                  <a:srgbClr val="E70012"/>
                </a:solidFill>
              </a:defRPr>
            </a:pPr>
            <a:r>
              <a:t>❌ 3. Logística y Moras Caóticas</a:t>
            </a:r>
          </a:p>
          <a:p>
            <a:pPr>
              <a:defRPr sz="1100">
                <a:solidFill>
                  <a:srgbClr val="0B0E3D"/>
                </a:solidFill>
              </a:defRPr>
            </a:pPr>
            <a:r>
              <a:t>Rutas de entrega sin optimizar, checklists en papel sin evidencia fotográfica y cobros de mora descontrolados.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400" b="1">
                <a:solidFill>
                  <a:srgbClr val="1E9E5A"/>
                </a:solidFill>
              </a:defRPr>
            </a:pPr>
            <a:r>
              <a:t>✅ PWA Logística + Ruteo IA</a:t>
            </a:r>
          </a:p>
          <a:p>
            <a:pPr>
              <a:defRPr sz="1100">
                <a:solidFill>
                  <a:srgbClr val="0B0E3D"/>
                </a:solidFill>
              </a:defRPr>
            </a:pPr>
            <a:r>
              <a:t>Agente nocturno optimiza rutas de despacho; app táctil para celular con checklist fotográfico e inspección digital.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70012"/>
                </a:solidFill>
              </a:defRPr>
            </a:pPr>
            <a:r>
              <a:t>MOMENTO 3: DECISIÓN TÉCNICA DESTACADA</a:t>
            </a:r>
          </a:p>
          <a:p>
            <a:pPr>
              <a:defRPr sz="2400" b="1">
                <a:solidFill>
                  <a:srgbClr val="0B0E3D"/>
                </a:solidFill>
              </a:defRPr>
            </a:pPr>
            <a:r>
              <a:t>2. Arquitectura de Software: Clean Architecture + Microfrontends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141CDB"/>
                </a:solidFill>
              </a:defRPr>
            </a:pPr>
            <a:r>
              <a:t>4 Micro-frontends</a:t>
            </a:r>
          </a:p>
          <a:p>
            <a:br/>
            <a:pPr>
              <a:defRPr sz="1050">
                <a:solidFill>
                  <a:srgbClr val="0B0E3D"/>
                </a:solidFill>
              </a:defRPr>
            </a:pPr>
            <a:r>
              <a:t>Angular 19 + Native Federation</a:t>
            </a:r>
            <a:br/>
            <a:br/>
            <a:r>
              <a:t>• Shell Host (Auth &amp; Core)</a:t>
            </a:r>
            <a:br/>
            <a:r>
              <a:t>• Portal Cliente (B2C/B2B)</a:t>
            </a:r>
            <a:br/>
            <a:r>
              <a:t>• Panel Admin (BI &amp; Ops)</a:t>
            </a:r>
            <a:br/>
            <a:r>
              <a:t>• PWA Logística (Offline-First)</a:t>
            </a:r>
            <a:br/>
            <a:r>
              <a:t>• UI-Kit compartido de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0B0E3D"/>
                </a:solidFill>
              </a:defRPr>
            </a:pPr>
            <a:r>
              <a:t>Backend Modular DDD</a:t>
            </a:r>
          </a:p>
          <a:p>
            <a:br/>
            <a:pPr>
              <a:defRPr sz="1050">
                <a:solidFill>
                  <a:srgbClr val="0B0E3D"/>
                </a:solidFill>
              </a:defRPr>
            </a:pPr>
            <a:r>
              <a:t>NestJS + Clean Architecture</a:t>
            </a:r>
            <a:br/>
            <a:br/>
            <a:r>
              <a:t>• Dominio desacoplado</a:t>
            </a:r>
            <a:br/>
            <a:r>
              <a:t>• Catalog, Orders, Fleet, Inspection, Analytics Modules</a:t>
            </a:r>
            <a:br/>
            <a:r>
              <a:t>• Contrato estricto OpenAPI v3</a:t>
            </a:r>
            <a:br/>
            <a:r>
              <a:t>• Workers para jobs batch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0B0E3D"/>
                </a:solidFill>
              </a:defRPr>
            </a:pPr>
            <a:r>
              <a:t>Base de Datos &amp; Auth</a:t>
            </a:r>
          </a:p>
          <a:p>
            <a:br/>
            <a:pPr>
              <a:defRPr sz="1050">
                <a:solidFill>
                  <a:srgbClr val="0B0E3D"/>
                </a:solidFill>
              </a:defRPr>
            </a:pPr>
            <a:r>
              <a:t>Supabase (PostgreSQL)</a:t>
            </a:r>
            <a:br/>
            <a:br/>
            <a:r>
              <a:t>• Row-Level Security (RLS)</a:t>
            </a:r>
            <a:br/>
            <a:r>
              <a:t>• Supabase Auth + JWT Claims</a:t>
            </a:r>
            <a:br/>
            <a:r>
              <a:t>• Supabase Storage para fotos</a:t>
            </a:r>
            <a:br/>
            <a:r>
              <a:t>• Supabase Realtime para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141CDB"/>
                </a:solidFill>
              </a:defRPr>
            </a:pPr>
            <a:r>
              <a:t>Infraestructura CI/CD</a:t>
            </a:r>
          </a:p>
          <a:p>
            <a:br/>
            <a:pPr>
              <a:defRPr sz="1050">
                <a:solidFill>
                  <a:srgbClr val="0B0E3D"/>
                </a:solidFill>
              </a:defRPr>
            </a:pPr>
            <a:r>
              <a:t>Producción Multi-Cloud</a:t>
            </a:r>
            <a:br/>
            <a:br/>
            <a:r>
              <a:t>• Vercel: Microfrontends SPA</a:t>
            </a:r>
            <a:br/>
            <a:r>
              <a:t>• Railway: API NestJS &amp; Workers</a:t>
            </a:r>
            <a:br/>
            <a:r>
              <a:t>• GitHub Actions: Turborepo Pipeline</a:t>
            </a:r>
            <a:br/>
            <a:r>
              <a:t>• 180 Tests unitarios en verde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70012"/>
                </a:solidFill>
              </a:defRPr>
            </a:pPr>
            <a:r>
              <a:t>CRITERIO 3: AGENTES CON GROUNDING &amp; TOOL CALLING</a:t>
            </a:r>
          </a:p>
          <a:p>
            <a:pPr>
              <a:defRPr sz="2400" b="1">
                <a:solidFill>
                  <a:srgbClr val="0B0E3D"/>
                </a:solidFill>
              </a:defRPr>
            </a:pPr>
            <a:r>
              <a:t>3. Inteligencia con Fundamento: 3 Agentes de IA Especializados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141CDB"/>
                </a:solidFill>
              </a:defRPr>
            </a:pPr>
            <a:r>
              <a:t>AGENTE 1: RUTEO NOCTURNO — Batch Nocturno &amp; Optimización de Rutas</a:t>
            </a:r>
          </a:p>
          <a:p>
            <a:pPr>
              <a:defRPr sz="1100">
                <a:solidFill>
                  <a:srgbClr val="0B0E3D"/>
                </a:solidFill>
              </a:defRPr>
            </a:pPr>
            <a:r>
              <a:t>• Ejecución nocturna automatizada.</a:t>
            </a:r>
            <a:br/>
            <a:r>
              <a:t>• Agrupa entregas y recolecciones por zonas geográficas.</a:t>
            </a:r>
            <a:br/>
            <a:r>
              <a:t>• Tool Calling tipado para consultar pedidos pendientes y asignar paradas al repartidor.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0B0E3D"/>
                </a:solidFill>
              </a:defRPr>
            </a:pPr>
            <a:r>
              <a:t>AGENTE 2: ASISTENTE WHATSAPP — Canal Conversacional Multimodal</a:t>
            </a:r>
          </a:p>
          <a:p>
            <a:pPr>
              <a:defRPr sz="1100">
                <a:solidFill>
                  <a:srgbClr val="0B0E3D"/>
                </a:solidFill>
              </a:defRPr>
            </a:pPr>
            <a:r>
              <a:t>• Integración con WhatsApp Cloud API.</a:t>
            </a:r>
            <a:br/>
            <a:r>
              <a:t>• Transcripción de notas de voz con Deepgram y síntesis con ElevenLabs.</a:t>
            </a:r>
            <a:br/>
            <a:r>
              <a:t>• Asistencia técnica y consulta de estado de pedidos.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E70012"/>
                </a:solidFill>
              </a:defRPr>
            </a:pPr>
            <a:r>
              <a:t>AGENTE 3: CONSERJE DE VOZ — Widget WebRTC de Ultra-Baja Latencia</a:t>
            </a:r>
          </a:p>
          <a:p>
            <a:pPr>
              <a:defRPr sz="1100">
                <a:solidFill>
                  <a:srgbClr val="0B0E3D"/>
                </a:solidFill>
              </a:defRPr>
            </a:pPr>
            <a:r>
              <a:t>• Embebido en el Portal del Cliente con LiveKit.</a:t>
            </a:r>
            <a:br/>
            <a:r>
              <a:t>• Latencia bidireccional &lt; 800ms con Claude / Gemini.</a:t>
            </a:r>
            <a:br/>
            <a:r>
              <a:t>• Grounding estricto: ejecuta searchCatalog() y sólo cotiza herramientas reales.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70012"/>
                </a:solidFill>
              </a:defRPr>
            </a:pPr>
            <a:r>
              <a:t>MOMENTO 2: DEMO EN VIVO (2:00 - 4:00)</a:t>
            </a:r>
          </a:p>
          <a:p>
            <a:pPr>
              <a:defRPr sz="2400" b="1">
                <a:solidFill>
                  <a:srgbClr val="0B0E3D"/>
                </a:solidFill>
              </a:defRPr>
            </a:pPr>
            <a:r>
              <a:t>4. Demo en Vivo: Portal del Cliente &amp; Catálogo 'Potencia Sin Pausas'</a:t>
            </a:r>
          </a:p>
        </p:txBody>
      </p:sp>
      <p:pic>
        <p:nvPicPr>
          <p:cNvPr id="4" name="Picture 3" descr="screenshot_03_portal_cliente_cat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5171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41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600" b="1">
                <a:solidFill>
                  <a:srgbClr val="141CDB"/>
                </a:solidFill>
              </a:defRPr>
            </a:pPr>
            <a:r>
              <a:t>Puntos Clave a Demostrar:</a:t>
            </a:r>
          </a:p>
          <a:p>
            <a:br/>
            <a:pPr>
              <a:defRPr sz="1150">
                <a:solidFill>
                  <a:srgbClr val="0B0E3D"/>
                </a:solidFill>
              </a:defRPr>
            </a:pPr>
            <a:r>
              <a:t>1. Sistema Industrial Racing:</a:t>
            </a:r>
            <a:br/>
            <a:r>
              <a:t>   Tokens Stitch, Brand Blue (#141CDB) y acentos Brand Red (#E70012).</a:t>
            </a:r>
            <a:br/>
            <a:br/>
            <a:r>
              <a:t>2. Filtros por Categoría:</a:t>
            </a:r>
            <a:br/>
            <a:r>
              <a:t>   Demolición, Perforación, Corte y Medición en tiempo real.</a:t>
            </a:r>
            <a:br/>
            <a:br/>
            <a:r>
              <a:t>3. Conserje de Voz AI:</a:t>
            </a:r>
            <a:br/>
            <a:r>
              <a:t>   Asesoría técnica en vivo sin alucinaciones.</a:t>
            </a:r>
            <a:br/>
            <a:br/>
            <a:r>
              <a:t>4. Cotizador Interactivo:</a:t>
            </a:r>
            <a:br/>
            <a:r>
              <a:t>   Cálculo automático de tarifa por días y depósito de garantía.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70012"/>
                </a:solidFill>
              </a:defRPr>
            </a:pPr>
            <a:r>
              <a:t>MOMENTO 2: DEMO EN VIVO (4:00 - 5:45)</a:t>
            </a:r>
          </a:p>
          <a:p>
            <a:pPr>
              <a:defRPr sz="2400" b="1">
                <a:solidFill>
                  <a:srgbClr val="0B0E3D"/>
                </a:solidFill>
              </a:defRPr>
            </a:pPr>
            <a:r>
              <a:t>5. Demo en Vivo: PWA Logística en Campo con Escáner QR</a:t>
            </a:r>
          </a:p>
        </p:txBody>
      </p:sp>
      <p:pic>
        <p:nvPicPr>
          <p:cNvPr id="4" name="Picture 3" descr="screenshot_06_pwa_logistica_ru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028148" cy="4389120"/>
          </a:xfrm>
          <a:prstGeom prst="rect">
            <a:avLst/>
          </a:prstGeom>
        </p:spPr>
      </p:pic>
      <p:pic>
        <p:nvPicPr>
          <p:cNvPr id="5" name="Picture 4" descr="screenshot_07_pwa_logistica_sc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45920"/>
            <a:ext cx="2028148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645920"/>
            <a:ext cx="5486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E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600" b="1">
                <a:solidFill>
                  <a:srgbClr val="1E9E5A"/>
                </a:solidFill>
              </a:defRPr>
            </a:pPr>
            <a:r>
              <a:t>Innovación Logística en Campo:</a:t>
            </a:r>
          </a:p>
          <a:p>
            <a:br/>
            <a:pPr>
              <a:defRPr sz="1150">
                <a:solidFill>
                  <a:srgbClr val="0B0E3D"/>
                </a:solidFill>
              </a:defRPr>
            </a:pPr>
            <a:r>
              <a:t>• Diseño Touch Ergonómico:</a:t>
            </a:r>
            <a:br/>
            <a:r>
              <a:t>  Targets de &gt;= 56px optimizados para smartphone y uso con guantes de obra.</a:t>
            </a:r>
            <a:br/>
            <a:br/>
            <a:r>
              <a:t>• Mi Ruta Diaria:</a:t>
            </a:r>
            <a:br/>
            <a:r>
              <a:t>  Paradas ordenadas y optimizadas por el Agente 1, distinguiendo Entregas vs Recolecciones.</a:t>
            </a:r>
            <a:br/>
            <a:br/>
            <a:r>
              <a:t>• Escáner QR Unitario:</a:t>
            </a:r>
            <a:br/>
            <a:r>
              <a:t>  Lectura del código adherido a la herramienta física para registrar el número de serie exacto.</a:t>
            </a:r>
            <a:br/>
            <a:br/>
            <a:r>
              <a:t>• Checklist Fotográfico:</a:t>
            </a:r>
            <a:br/>
            <a:r>
              <a:t>  Registro fotográfico del estado del equipo en entrega y devolución para liquidar moras o daños.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70012"/>
                </a:solidFill>
              </a:defRPr>
            </a:pPr>
            <a:r>
              <a:t>MOMENTO 2: DEMO EN VIVO (5:45 - 7:30)</a:t>
            </a:r>
          </a:p>
          <a:p>
            <a:pPr>
              <a:defRPr sz="2400" b="1">
                <a:solidFill>
                  <a:srgbClr val="0B0E3D"/>
                </a:solidFill>
              </a:defRPr>
            </a:pPr>
            <a:r>
              <a:t>6. Demo en Vivo: Panel Administrativo &amp; Dashboards de BI</a:t>
            </a:r>
          </a:p>
        </p:txBody>
      </p:sp>
      <p:pic>
        <p:nvPicPr>
          <p:cNvPr id="4" name="Picture 3" descr="screenshot_04_panel_admin_ingr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2103120"/>
          </a:xfrm>
          <a:prstGeom prst="rect">
            <a:avLst/>
          </a:prstGeom>
        </p:spPr>
      </p:pic>
      <p:pic>
        <p:nvPicPr>
          <p:cNvPr id="5" name="Picture 4" descr="screenshot_04_panel_admin_ingr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31920"/>
            <a:ext cx="6217920" cy="2103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645920"/>
            <a:ext cx="42062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41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600" b="1">
                <a:solidFill>
                  <a:srgbClr val="141CDB"/>
                </a:solidFill>
              </a:defRPr>
            </a:pPr>
            <a:r>
              <a:t>Visibilidad Gerencial &amp; Operativa:</a:t>
            </a:r>
          </a:p>
          <a:p>
            <a:br/>
            <a:pPr>
              <a:defRPr sz="1100">
                <a:solidFill>
                  <a:srgbClr val="0B0E3D"/>
                </a:solidFill>
              </a:defRPr>
            </a:pPr>
            <a:r>
              <a:t>1. Dashboard de Ingresos (/analitica/ingresos):</a:t>
            </a:r>
            <a:br/>
            <a:r>
              <a:t>   Ventas directas, alquileres y cobro automático de moras.</a:t>
            </a:r>
            <a:br/>
            <a:br/>
            <a:r>
              <a:t>2. Dashboard de Utilización (/analitica/utilizacion-productividad):</a:t>
            </a:r>
            <a:br/>
            <a:r>
              <a:t>   Tasa de utilización global del 84.5% y demanda por modelo.</a:t>
            </a:r>
            <a:br/>
            <a:br/>
            <a:r>
              <a:t>3. Productividad de Repartidores:</a:t>
            </a:r>
            <a:br/>
            <a:r>
              <a:t>   Entregas completadas y porcentaje de puntualidad en obra.</a:t>
            </a:r>
            <a:br/>
            <a:br/>
            <a:r>
              <a:t>4. Control de Flota y Despachos:</a:t>
            </a:r>
            <a:br/>
            <a:r>
              <a:t>   Registro y capacidad de carga de transportes.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70012"/>
                </a:solidFill>
              </a:defRPr>
            </a:pPr>
            <a:r>
              <a:t>CRITERIOS 4 Y 5: TESTS (100%) Y PUBLICADO VIVO</a:t>
            </a:r>
          </a:p>
          <a:p>
            <a:pPr>
              <a:defRPr sz="2400" b="1">
                <a:solidFill>
                  <a:srgbClr val="0B0E3D"/>
                </a:solidFill>
              </a:defRPr>
            </a:pPr>
            <a:r>
              <a:t>7. Calidad Verificada y Pipeline CI/CD en Producción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1E9E5A"/>
                </a:solidFill>
              </a:defRPr>
            </a:pPr>
            <a:r>
              <a:t>180 Tests Unitarios</a:t>
            </a:r>
          </a:p>
          <a:p>
            <a:br/>
            <a:pPr>
              <a:defRPr sz="1050">
                <a:solidFill>
                  <a:srgbClr val="0B0E3D"/>
                </a:solidFill>
              </a:defRPr>
            </a:pPr>
            <a:r>
              <a:t>100% SUCCESS en Frontend</a:t>
            </a:r>
            <a:br/>
            <a:br/>
            <a:r>
              <a:t>• Portal Cliente: 59 tests</a:t>
            </a:r>
            <a:br/>
            <a:r>
              <a:t>• Panel Admin: 43 tests</a:t>
            </a:r>
            <a:br/>
            <a:r>
              <a:t>• PWA Logística: 36 tests</a:t>
            </a:r>
            <a:br/>
            <a:r>
              <a:t>• Shell Host: 38 tests</a:t>
            </a:r>
            <a:br/>
            <a:r>
              <a:t>• UI-Kit: 4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141CDB"/>
                </a:solidFill>
              </a:defRPr>
            </a:pPr>
            <a:r>
              <a:t>Contratos OpenAPI</a:t>
            </a:r>
          </a:p>
          <a:p>
            <a:br/>
            <a:pPr>
              <a:defRPr sz="1050">
                <a:solidFill>
                  <a:srgbClr val="0B0E3D"/>
                </a:solidFill>
              </a:defRPr>
            </a:pPr>
            <a:r>
              <a:t>Validación Spectral en CI</a:t>
            </a:r>
            <a:br/>
            <a:br/>
            <a:r>
              <a:t>• openapi.yaml como única fuente de verdad</a:t>
            </a:r>
            <a:br/>
            <a:r>
              <a:t>• Contratos tipados en shared-types</a:t>
            </a:r>
            <a:br/>
            <a:r>
              <a:t>• Sin endpoints huérfanos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141CDB"/>
                </a:solidFill>
              </a:defRPr>
            </a:pPr>
            <a:r>
              <a:t>Pipeline CI/CD</a:t>
            </a:r>
          </a:p>
          <a:p>
            <a:br/>
            <a:pPr>
              <a:defRPr sz="1050">
                <a:solidFill>
                  <a:srgbClr val="0B0E3D"/>
                </a:solidFill>
              </a:defRPr>
            </a:pPr>
            <a:r>
              <a:t>GitHub Actions + Turborepo</a:t>
            </a:r>
            <a:br/>
            <a:br/>
            <a:r>
              <a:t>• Lint, test y build automatizado</a:t>
            </a:r>
            <a:br/>
            <a:r>
              <a:t>• Multi-project Turborepo cache</a:t>
            </a:r>
            <a:br/>
            <a:r>
              <a:t>• PR #116 y #117 mergeados en verde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0B0E3D"/>
                </a:solidFill>
              </a:defRPr>
            </a:pPr>
            <a:r>
              <a:t>Deploy Multi-Cloud</a:t>
            </a:r>
          </a:p>
          <a:p>
            <a:br/>
            <a:pPr>
              <a:defRPr sz="1050">
                <a:solidFill>
                  <a:srgbClr val="0B0E3D"/>
                </a:solidFill>
              </a:defRPr>
            </a:pPr>
            <a:r>
              <a:t>Producción Activa</a:t>
            </a:r>
            <a:br/>
            <a:br/>
            <a:r>
              <a:t>• Vercel: 4 Microfrontends SPA</a:t>
            </a:r>
            <a:br/>
            <a:r>
              <a:t>• Railway: API NestJS &amp; Jobs</a:t>
            </a:r>
            <a:br/>
            <a:r>
              <a:t>• Supabase: DB PostgreSQL + RLS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97280" cy="91440"/>
          </a:xfrm>
          <a:prstGeom prst="rect">
            <a:avLst/>
          </a:prstGeom>
          <a:solidFill>
            <a:srgbClr val="E7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¡Gracias! Preguntas &amp; Discusión</a:t>
            </a:r>
          </a:p>
          <a:p>
            <a:br/>
            <a:pPr>
              <a:defRPr sz="1600">
                <a:solidFill>
                  <a:srgbClr val="C8DCFF"/>
                </a:solidFill>
              </a:defRPr>
            </a:pPr>
            <a:r>
              <a:t>ToolBox JL está disponible y en vivo en: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Shell Host: https://tool-box-jl-shell.vercel.app</a:t>
            </a:r>
            <a:br/>
            <a:r>
              <a:t>• Portal Cliente: https://tool-box-jl-portal-cliente.vercel.app</a:t>
            </a:r>
            <a:br/>
            <a:r>
              <a:t>• PWA Logística: https://tool-box-jl-pwa-logistica.vercel.app</a:t>
            </a:r>
            <a:br/>
            <a:r>
              <a:t>• Panel Admin: https://tool-box-jl-panel-admin.vercel.app</a:t>
            </a:r>
            <a:br/>
            <a:r>
              <a:t>• Repositorio: https://github.com/Xavierlop31/ToolBoxJL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